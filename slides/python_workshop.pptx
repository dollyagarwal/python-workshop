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63" r:id="rId3"/>
    <p:sldId id="264" r:id="rId4"/>
    <p:sldId id="257" r:id="rId5"/>
    <p:sldId id="265" r:id="rId6"/>
    <p:sldId id="258" r:id="rId7"/>
    <p:sldId id="259" r:id="rId8"/>
    <p:sldId id="260" r:id="rId9"/>
    <p:sldId id="261" r:id="rId10"/>
    <p:sldId id="262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54378A-8E91-4CD2-9842-FD67C8AC0F83}" type="datetimeFigureOut">
              <a:rPr lang="en-SG" smtClean="0"/>
              <a:t>10/12/2025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369D7E-2254-4841-A5FA-2126842E554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2875118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SG" dirty="0"/>
              <a:t>name = 'Team'</a:t>
            </a:r>
          </a:p>
          <a:p>
            <a:pPr fontAlgn="t"/>
            <a:endParaRPr lang="en-US" b="0" i="0" dirty="0">
              <a:effectLst/>
              <a:latin typeface="Segoe UI" panose="020B0502040204020203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369D7E-2254-4841-A5FA-2126842E5548}" type="slidenum">
              <a:rPr lang="en-SG" smtClean="0"/>
              <a:t>4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4421211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SG" b="0" i="0" dirty="0">
              <a:effectLst/>
              <a:latin typeface="Segoe UI" panose="020B0502040204020203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369D7E-2254-4841-A5FA-2126842E5548}" type="slidenum">
              <a:rPr lang="en-SG" smtClean="0"/>
              <a:t>5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1058403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369D7E-2254-4841-A5FA-2126842E5548}" type="slidenum">
              <a:rPr lang="en-SG" smtClean="0"/>
              <a:t>6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0424611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SG" b="0" i="0" dirty="0">
              <a:effectLst/>
              <a:latin typeface="Segoe UI" panose="020B0502040204020203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369D7E-2254-4841-A5FA-2126842E5548}" type="slidenum">
              <a:rPr lang="en-SG" smtClean="0"/>
              <a:t>7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4921020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endParaRPr lang="en-SG" b="0" i="0" dirty="0">
              <a:effectLst/>
              <a:latin typeface="Segoe UI" panose="020B0502040204020203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369D7E-2254-4841-A5FA-2126842E5548}" type="slidenum">
              <a:rPr lang="en-SG" smtClean="0"/>
              <a:t>8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6580341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SG" b="0" i="0" dirty="0">
              <a:effectLst/>
              <a:latin typeface="Segoe UI" panose="020B0502040204020203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369D7E-2254-4841-A5FA-2126842E5548}" type="slidenum">
              <a:rPr lang="en-SG" smtClean="0"/>
              <a:t>9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6598962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SG" b="0" i="0" dirty="0">
              <a:effectLst/>
              <a:latin typeface="Segoe UI" panose="020B0502040204020203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369D7E-2254-4841-A5FA-2126842E5548}" type="slidenum">
              <a:rPr lang="en-SG" smtClean="0"/>
              <a:t>10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9723953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FFA5840-D5D0-834F-A84B-4D22799A283A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4227513" y="63500"/>
            <a:ext cx="7175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SG" sz="10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SC-Restricted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11EAD4D-DE34-A701-CC24-DFBACB945BB3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227513" y="6642100"/>
            <a:ext cx="7175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SG" sz="10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SC-Restricted</a:t>
            </a: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Python Workshop</a:t>
            </a:r>
            <a:endParaRPr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D7515C33-BF0A-9B7A-C6EF-090F7736557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SG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245353-B181-BC4C-2F6D-0DEA0CFB6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Goals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F1EAAC-E41E-FDE6-C6DE-A517E00EA1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/>
              <a:t>Adopt Python syntax &amp; conventions quickly</a:t>
            </a:r>
          </a:p>
          <a:p>
            <a:r>
              <a:rPr lang="en-SG" dirty="0"/>
              <a:t>Write Pythonic, readable code</a:t>
            </a:r>
          </a:p>
          <a:p>
            <a:r>
              <a:rPr lang="en-SG" dirty="0"/>
              <a:t>Handle data &amp; files effectively</a:t>
            </a:r>
          </a:p>
          <a:p>
            <a:r>
              <a:rPr lang="en-SG" dirty="0"/>
              <a:t>Use OOP, types, and tooling pragmatically</a:t>
            </a:r>
          </a:p>
        </p:txBody>
      </p:sp>
    </p:spTree>
    <p:extLst>
      <p:ext uri="{BB962C8B-B14F-4D97-AF65-F5344CB8AC3E}">
        <p14:creationId xmlns:p14="http://schemas.microsoft.com/office/powerpoint/2010/main" val="22436317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135A8-E824-95DA-95CA-7FB65DC7AE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77422F-3AFC-1825-012B-34DCD7C316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/>
              <a:t>Intro &amp; mindset</a:t>
            </a:r>
          </a:p>
          <a:p>
            <a:r>
              <a:rPr lang="en-SG" dirty="0"/>
              <a:t>Syntax essentials</a:t>
            </a:r>
          </a:p>
          <a:p>
            <a:r>
              <a:rPr lang="en-SG" dirty="0"/>
              <a:t>Pythonic idioms</a:t>
            </a:r>
          </a:p>
          <a:p>
            <a:r>
              <a:rPr lang="en-SG" dirty="0"/>
              <a:t>Data handling &amp; I/O </a:t>
            </a:r>
          </a:p>
          <a:p>
            <a:r>
              <a:rPr lang="en-SG" dirty="0"/>
              <a:t>OOP &amp; advanced</a:t>
            </a:r>
          </a:p>
          <a:p>
            <a:r>
              <a:rPr lang="en-SG" dirty="0"/>
              <a:t>Tooling &amp; wrap-up</a:t>
            </a:r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2579330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EBB9EE-78C2-B45E-1E32-B4683F0A5C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b="0" i="0" dirty="0">
                <a:effectLst/>
                <a:latin typeface="Segoe UI" panose="020B0502040204020203" pitchFamily="34" charset="0"/>
              </a:rPr>
              <a:t>Introduction &amp; Python Mindset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6A4EC4-27C9-BFF2-AA6C-6A1CD16BEE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Dynamic typing</a:t>
            </a:r>
          </a:p>
          <a:p>
            <a:r>
              <a:rPr lang="en-US" dirty="0"/>
              <a:t>Indentation defines blocks</a:t>
            </a:r>
          </a:p>
          <a:p>
            <a:r>
              <a:rPr lang="en-US" dirty="0"/>
              <a:t>Batteries included: rich </a:t>
            </a:r>
            <a:r>
              <a:rPr lang="en-US" dirty="0" err="1"/>
              <a:t>stdlib</a:t>
            </a:r>
            <a:endParaRPr lang="en-US" dirty="0"/>
          </a:p>
          <a:p>
            <a:r>
              <a:rPr lang="en-US" dirty="0"/>
              <a:t>Prefer readability &amp; simplicity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D7E5F6D-2EBE-4620-7D2F-B609DCC46A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1987549"/>
              </p:ext>
            </p:extLst>
          </p:nvPr>
        </p:nvGraphicFramePr>
        <p:xfrm>
          <a:off x="555523" y="4902183"/>
          <a:ext cx="8229600" cy="731520"/>
        </p:xfrm>
        <a:graphic>
          <a:graphicData uri="http://schemas.openxmlformats.org/drawingml/2006/table">
            <a:tbl>
              <a:tblPr/>
              <a:tblGrid>
                <a:gridCol w="8229600">
                  <a:extLst>
                    <a:ext uri="{9D8B030D-6E8A-4147-A177-3AD203B41FA5}">
                      <a16:colId xmlns:a16="http://schemas.microsoft.com/office/drawing/2014/main" val="2929931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fontAlgn="t"/>
                      <a:r>
                        <a:rPr lang="en-SG" b="0" i="0">
                          <a:effectLst/>
                          <a:latin typeface="Segoe UI" panose="020B0502040204020203" pitchFamily="34" charset="0"/>
                        </a:rPr>
                        <a:t>https://docs.python.org/3/library/</a:t>
                      </a:r>
                    </a:p>
                  </a:txBody>
                  <a:tcPr>
                    <a:lnL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8758389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SG" dirty="0"/>
                    </a:p>
                  </a:txBody>
                  <a:tcPr>
                    <a:lnT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888181710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D46136C0-B207-020C-2981-12F24350F5DD}"/>
              </a:ext>
            </a:extLst>
          </p:cNvPr>
          <p:cNvSpPr txBox="1"/>
          <p:nvPr/>
        </p:nvSpPr>
        <p:spPr>
          <a:xfrm>
            <a:off x="1755058" y="3863181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dirty="0"/>
              <a:t>https://realpython.com/zen-of-python/</a:t>
            </a:r>
          </a:p>
        </p:txBody>
      </p:sp>
    </p:spTree>
    <p:extLst>
      <p:ext uri="{BB962C8B-B14F-4D97-AF65-F5344CB8AC3E}">
        <p14:creationId xmlns:p14="http://schemas.microsoft.com/office/powerpoint/2010/main" val="5760850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66A89-747E-4711-DCB5-7935B9BAE3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dirty="0">
                <a:latin typeface="Segoe UI" panose="020B0502040204020203" pitchFamily="34" charset="0"/>
              </a:rPr>
              <a:t>L</a:t>
            </a:r>
            <a:r>
              <a:rPr lang="en-SG" b="0" i="0" dirty="0">
                <a:effectLst/>
                <a:latin typeface="Segoe UI" panose="020B0502040204020203" pitchFamily="34" charset="0"/>
              </a:rPr>
              <a:t>ot of functionality “built-in”</a:t>
            </a:r>
            <a:endParaRPr lang="en-SG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344D9FC-FC0A-DCD1-BED8-37C53A99FF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l" rtl="0" eaLnBrk="1" fontAlgn="t" latinLnBrk="0" hangingPunct="1">
              <a:spcBef>
                <a:spcPts val="0"/>
              </a:spcBef>
              <a:spcAft>
                <a:spcPts val="0"/>
              </a:spcAft>
              <a:buClrTx/>
              <a:buSzPts val="1800"/>
              <a:buNone/>
            </a:pPr>
            <a:r>
              <a:rPr lang="en-SG" sz="3200" b="0" i="0" u="none" strike="noStrike" kern="120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The standard library covers: </a:t>
            </a:r>
            <a:endParaRPr lang="en-SG" sz="3200" b="0" i="0" u="none" strike="noStrike" dirty="0">
              <a:effectLst/>
              <a:latin typeface="Arial" panose="020B0604020202020204" pitchFamily="34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SG" sz="3200" b="1" i="0" u="none" strike="noStrike" kern="120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File I/O</a:t>
            </a:r>
            <a:r>
              <a:rPr lang="en-SG" sz="3200" b="0" i="0" u="none" strike="noStrike" kern="120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(</a:t>
            </a:r>
            <a:r>
              <a:rPr lang="en-SG" sz="3200" b="0" i="0" u="none" strike="noStrike" kern="1200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pathlib</a:t>
            </a:r>
            <a:r>
              <a:rPr lang="en-SG" sz="3200" b="0" i="0" u="none" strike="noStrike" kern="120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, </a:t>
            </a:r>
            <a:r>
              <a:rPr lang="en-SG" sz="3200" b="0" i="0" u="none" strike="noStrike" kern="1200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os</a:t>
            </a:r>
            <a:r>
              <a:rPr lang="en-SG" sz="3200" b="0" i="0" u="none" strike="noStrike" kern="120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)</a:t>
            </a:r>
            <a:endParaRPr lang="en-SG" sz="3200" b="0" i="0" u="none" strike="noStrike" dirty="0">
              <a:effectLst/>
              <a:latin typeface="Arial" panose="020B0604020202020204" pitchFamily="34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SG" sz="3200" b="1" i="0" u="none" strike="noStrike" kern="120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Data formats</a:t>
            </a:r>
            <a:r>
              <a:rPr lang="en-SG" sz="3200" b="0" i="0" u="none" strike="noStrike" kern="120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(</a:t>
            </a:r>
            <a:r>
              <a:rPr lang="en-SG" sz="3200" b="0" i="0" u="none" strike="noStrike" kern="1200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json</a:t>
            </a:r>
            <a:r>
              <a:rPr lang="en-SG" sz="3200" b="0" i="0" u="none" strike="noStrike" kern="120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, csv, xml)</a:t>
            </a:r>
            <a:endParaRPr lang="en-SG" sz="3200" b="0" i="0" u="none" strike="noStrike" dirty="0">
              <a:effectLst/>
              <a:latin typeface="Arial" panose="020B0604020202020204" pitchFamily="34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SG" sz="3200" b="1" i="0" u="none" strike="noStrike" kern="120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Networking</a:t>
            </a:r>
            <a:r>
              <a:rPr lang="en-SG" sz="3200" b="0" i="0" u="none" strike="noStrike" kern="120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(</a:t>
            </a:r>
            <a:r>
              <a:rPr lang="en-SG" sz="3200" b="0" i="0" u="none" strike="noStrike" kern="1200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http.client</a:t>
            </a:r>
            <a:r>
              <a:rPr lang="en-SG" sz="3200" b="0" i="0" u="none" strike="noStrike" kern="120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, socket)</a:t>
            </a:r>
            <a:endParaRPr lang="en-SG" sz="3200" b="0" i="0" u="none" strike="noStrike" dirty="0">
              <a:effectLst/>
              <a:latin typeface="Arial" panose="020B0604020202020204" pitchFamily="34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SG" sz="3200" b="1" i="0" u="none" strike="noStrike" kern="120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Math &amp; statistics</a:t>
            </a:r>
            <a:r>
              <a:rPr lang="en-SG" sz="3200" b="0" i="0" u="none" strike="noStrike" kern="120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(math, statistics)</a:t>
            </a:r>
            <a:endParaRPr lang="en-SG" sz="3200" b="0" i="0" u="none" strike="noStrike" dirty="0">
              <a:effectLst/>
              <a:latin typeface="Arial" panose="020B0604020202020204" pitchFamily="34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SG" sz="3200" b="1" i="0" u="none" strike="noStrike" kern="120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Date/time</a:t>
            </a:r>
            <a:r>
              <a:rPr lang="en-SG" sz="3200" b="0" i="0" u="none" strike="noStrike" kern="120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(datetime)</a:t>
            </a:r>
            <a:endParaRPr lang="en-SG" sz="3200" b="0" i="0" u="none" strike="noStrike" dirty="0">
              <a:effectLst/>
              <a:latin typeface="Arial" panose="020B0604020202020204" pitchFamily="34" charset="0"/>
            </a:endParaRPr>
          </a:p>
          <a:p>
            <a:pPr marL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SG" sz="3200" b="1" i="0" u="none" strike="noStrike" kern="120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Utilities</a:t>
            </a:r>
            <a:r>
              <a:rPr lang="en-SG" sz="3200" b="0" i="0" u="none" strike="noStrike" kern="120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(</a:t>
            </a:r>
            <a:r>
              <a:rPr lang="en-SG" sz="3200" b="0" i="0" u="none" strike="noStrike" kern="1200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itertools</a:t>
            </a:r>
            <a:r>
              <a:rPr lang="en-SG" sz="3200" b="0" i="0" u="none" strike="noStrike" kern="120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, </a:t>
            </a:r>
            <a:r>
              <a:rPr lang="en-SG" sz="3200" b="0" i="0" u="none" strike="noStrike" kern="1200" dirty="0" err="1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functools</a:t>
            </a:r>
            <a:r>
              <a:rPr lang="en-SG" sz="3200" b="0" i="0" u="none" strike="noStrike" kern="120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, collections)</a:t>
            </a:r>
            <a:endParaRPr lang="en-SG" sz="3200" b="0" i="0" u="none" strike="noStrike" dirty="0"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SG" b="0" i="0" dirty="0">
              <a:effectLst/>
              <a:latin typeface="Segoe UI" panose="020B0502040204020203" pitchFamily="34" charset="0"/>
            </a:endParaRPr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6236696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AB7A1-8084-4BD8-CE05-4C831E7EA6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Basics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A81854-32F7-A49C-29E3-B1DB67C577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Variables, expressions, f-strings</a:t>
            </a:r>
          </a:p>
          <a:p>
            <a:r>
              <a:rPr lang="en-US" dirty="0"/>
              <a:t>Control flow: if/for/while</a:t>
            </a:r>
          </a:p>
          <a:p>
            <a:r>
              <a:rPr lang="en-US" dirty="0"/>
              <a:t>Functions: defaults, keywords</a:t>
            </a:r>
          </a:p>
          <a:p>
            <a:r>
              <a:rPr lang="en-US" dirty="0"/>
              <a:t>Exceptions: try/except/else/finally</a:t>
            </a:r>
          </a:p>
        </p:txBody>
      </p:sp>
    </p:spTree>
    <p:extLst>
      <p:ext uri="{BB962C8B-B14F-4D97-AF65-F5344CB8AC3E}">
        <p14:creationId xmlns:p14="http://schemas.microsoft.com/office/powerpoint/2010/main" val="37936433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74C8FF-D82B-1F36-F712-B932A755F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b="0" i="0" dirty="0">
                <a:effectLst/>
                <a:latin typeface="Segoe UI" panose="020B0502040204020203" pitchFamily="34" charset="0"/>
              </a:rPr>
              <a:t>Pythonic Idioms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CD89EF-FECD-5F71-E250-F6E5D9554D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Comprehensions over loops</a:t>
            </a:r>
          </a:p>
          <a:p>
            <a:r>
              <a:rPr lang="en-US" dirty="0"/>
              <a:t>Enumerate &amp; zip for indexing/pairs</a:t>
            </a:r>
          </a:p>
          <a:p>
            <a:r>
              <a:rPr lang="en-US" dirty="0"/>
              <a:t>Unpacking &amp; assignment expressions</a:t>
            </a:r>
          </a:p>
          <a:p>
            <a:pPr fontAlgn="t">
              <a:buFont typeface="Arial" panose="020B0604020202020204" pitchFamily="34" charset="0"/>
              <a:buChar char="•"/>
            </a:pPr>
            <a:r>
              <a:rPr lang="en-US" dirty="0"/>
              <a:t>Context managers (with) for resource handling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SG" b="0" i="0" dirty="0">
              <a:effectLst/>
              <a:latin typeface="Segoe UI" panose="020B0502040204020203" pitchFamily="34" charset="0"/>
            </a:endParaRPr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7463695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93E345-F959-E175-50E5-4BF565839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b="0" i="0" dirty="0">
                <a:effectLst/>
                <a:latin typeface="Segoe UI" panose="020B0502040204020203" pitchFamily="34" charset="0"/>
              </a:rPr>
              <a:t>Data Handling &amp; I/O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2EB62E-EC12-9A28-5706-4D93E49CBC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SG" dirty="0"/>
              <a:t>Core types: str/list/</a:t>
            </a:r>
            <a:r>
              <a:rPr lang="en-SG" dirty="0" err="1"/>
              <a:t>dict</a:t>
            </a:r>
            <a:r>
              <a:rPr lang="en-SG" dirty="0"/>
              <a:t>/set</a:t>
            </a:r>
          </a:p>
          <a:p>
            <a:r>
              <a:rPr lang="en-SG" dirty="0"/>
              <a:t>File I/O &amp; </a:t>
            </a:r>
            <a:r>
              <a:rPr lang="en-SG" dirty="0" err="1"/>
              <a:t>pathlib</a:t>
            </a:r>
            <a:endParaRPr lang="en-SG" dirty="0"/>
          </a:p>
          <a:p>
            <a:r>
              <a:rPr lang="en-SG" dirty="0"/>
              <a:t>JSON &amp; simple API usage</a:t>
            </a:r>
          </a:p>
          <a:p>
            <a:r>
              <a:rPr lang="en-SG" dirty="0"/>
              <a:t>Optional: pandas for tabular data</a:t>
            </a:r>
          </a:p>
        </p:txBody>
      </p:sp>
    </p:spTree>
    <p:extLst>
      <p:ext uri="{BB962C8B-B14F-4D97-AF65-F5344CB8AC3E}">
        <p14:creationId xmlns:p14="http://schemas.microsoft.com/office/powerpoint/2010/main" val="34992511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141DF-A8DD-128A-69EA-2A08031B8A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b="0" i="0" dirty="0">
                <a:effectLst/>
                <a:latin typeface="Segoe UI" panose="020B0502040204020203" pitchFamily="34" charset="0"/>
              </a:rPr>
              <a:t>OOP &amp; Advanced Features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A81F31-6B8C-8E72-9F26-A3FDD883DD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Classes vs </a:t>
            </a:r>
            <a:r>
              <a:rPr lang="en-US" dirty="0" err="1"/>
              <a:t>dataclasses</a:t>
            </a:r>
            <a:endParaRPr lang="en-US" dirty="0"/>
          </a:p>
          <a:p>
            <a:r>
              <a:rPr lang="en-US" dirty="0"/>
              <a:t>Type hints &amp; </a:t>
            </a:r>
            <a:r>
              <a:rPr lang="en-US" dirty="0" err="1"/>
              <a:t>mypy</a:t>
            </a:r>
            <a:endParaRPr lang="en-US" dirty="0"/>
          </a:p>
          <a:p>
            <a:r>
              <a:rPr lang="en-US" dirty="0"/>
              <a:t>Decorators &amp; context managers</a:t>
            </a:r>
          </a:p>
          <a:p>
            <a:r>
              <a:rPr lang="en-US" dirty="0"/>
              <a:t>Best practices for small libs</a:t>
            </a:r>
          </a:p>
        </p:txBody>
      </p:sp>
    </p:spTree>
    <p:extLst>
      <p:ext uri="{BB962C8B-B14F-4D97-AF65-F5344CB8AC3E}">
        <p14:creationId xmlns:p14="http://schemas.microsoft.com/office/powerpoint/2010/main" val="39483260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3516C7-A346-F40B-7606-2FB7B4C31A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b="0" i="0" dirty="0">
                <a:effectLst/>
                <a:latin typeface="Segoe UI" panose="020B0502040204020203" pitchFamily="34" charset="0"/>
              </a:rPr>
              <a:t>Tooling &amp; Wrap-up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D25C10-BCF4-9A4C-FFDF-66C204C7C0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t"/>
            <a:r>
              <a:rPr lang="en-SG" dirty="0"/>
              <a:t>Virtual </a:t>
            </a:r>
            <a:r>
              <a:rPr lang="en-SG" dirty="0" err="1"/>
              <a:t>envs</a:t>
            </a:r>
            <a:r>
              <a:rPr lang="en-SG" dirty="0"/>
              <a:t> &amp; pip (setup_instructions.md)</a:t>
            </a:r>
          </a:p>
          <a:p>
            <a:pPr fontAlgn="t"/>
            <a:r>
              <a:rPr lang="en-SG" dirty="0"/>
              <a:t>Formatters &amp; linters: black, ruff</a:t>
            </a:r>
          </a:p>
          <a:p>
            <a:pPr fontAlgn="t"/>
            <a:r>
              <a:rPr lang="en-SG" dirty="0"/>
              <a:t>Type checking: </a:t>
            </a:r>
            <a:r>
              <a:rPr lang="en-SG" dirty="0" err="1"/>
              <a:t>mypy</a:t>
            </a:r>
            <a:r>
              <a:rPr lang="en-SG" dirty="0"/>
              <a:t>; </a:t>
            </a:r>
          </a:p>
          <a:p>
            <a:pPr fontAlgn="t"/>
            <a:r>
              <a:rPr lang="en-SG" dirty="0"/>
              <a:t>Testing: </a:t>
            </a:r>
            <a:r>
              <a:rPr lang="en-SG" dirty="0" err="1"/>
              <a:t>pytest</a:t>
            </a:r>
            <a:endParaRPr lang="en-SG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995349-DD56-42C7-3F98-845FF83A3405}"/>
              </a:ext>
            </a:extLst>
          </p:cNvPr>
          <p:cNvSpPr txBox="1"/>
          <p:nvPr/>
        </p:nvSpPr>
        <p:spPr>
          <a:xfrm>
            <a:off x="889819" y="4638057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SG" b="0" i="0" dirty="0">
                <a:effectLst/>
                <a:latin typeface="Segoe UI" panose="020B0502040204020203" pitchFamily="34" charset="0"/>
              </a:rPr>
              <a:t>https://peps.python.org/pep-0008/</a:t>
            </a:r>
          </a:p>
        </p:txBody>
      </p:sp>
    </p:spTree>
    <p:extLst>
      <p:ext uri="{BB962C8B-B14F-4D97-AF65-F5344CB8AC3E}">
        <p14:creationId xmlns:p14="http://schemas.microsoft.com/office/powerpoint/2010/main" val="25714220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299</Words>
  <Application>Microsoft Office PowerPoint</Application>
  <PresentationFormat>On-screen Show (4:3)</PresentationFormat>
  <Paragraphs>63</Paragraphs>
  <Slides>10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Arial</vt:lpstr>
      <vt:lpstr>Calibri</vt:lpstr>
      <vt:lpstr>Segoe UI</vt:lpstr>
      <vt:lpstr>Office Theme</vt:lpstr>
      <vt:lpstr>Python Workshop</vt:lpstr>
      <vt:lpstr>Goals</vt:lpstr>
      <vt:lpstr>Agenda</vt:lpstr>
      <vt:lpstr>Introduction &amp; Python Mindset</vt:lpstr>
      <vt:lpstr>Lot of functionality “built-in”</vt:lpstr>
      <vt:lpstr>Basics</vt:lpstr>
      <vt:lpstr>Pythonic Idioms</vt:lpstr>
      <vt:lpstr>Data Handling &amp; I/O</vt:lpstr>
      <vt:lpstr>OOP &amp; Advanced Features</vt:lpstr>
      <vt:lpstr>Tooling &amp; Wrap-up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Dolly Agarwal</cp:lastModifiedBy>
  <cp:revision>11</cp:revision>
  <dcterms:created xsi:type="dcterms:W3CDTF">2013-01-27T09:14:16Z</dcterms:created>
  <dcterms:modified xsi:type="dcterms:W3CDTF">2025-12-10T08:31:35Z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990c0be1-bb3d-41f4-a01f-ac7e5848c08e_Enabled">
    <vt:lpwstr>true</vt:lpwstr>
  </property>
  <property fmtid="{D5CDD505-2E9C-101B-9397-08002B2CF9AE}" pid="3" name="MSIP_Label_990c0be1-bb3d-41f4-a01f-ac7e5848c08e_SetDate">
    <vt:lpwstr>2025-12-08T09:27:13Z</vt:lpwstr>
  </property>
  <property fmtid="{D5CDD505-2E9C-101B-9397-08002B2CF9AE}" pid="4" name="MSIP_Label_990c0be1-bb3d-41f4-a01f-ac7e5848c08e_Method">
    <vt:lpwstr>Standard</vt:lpwstr>
  </property>
  <property fmtid="{D5CDD505-2E9C-101B-9397-08002B2CF9AE}" pid="5" name="MSIP_Label_990c0be1-bb3d-41f4-a01f-ac7e5848c08e_Name">
    <vt:lpwstr>Restricted</vt:lpwstr>
  </property>
  <property fmtid="{D5CDD505-2E9C-101B-9397-08002B2CF9AE}" pid="6" name="MSIP_Label_990c0be1-bb3d-41f4-a01f-ac7e5848c08e_SiteId">
    <vt:lpwstr>812b1e72-2671-4a1e-bc3f-0519db4e3723</vt:lpwstr>
  </property>
  <property fmtid="{D5CDD505-2E9C-101B-9397-08002B2CF9AE}" pid="7" name="MSIP_Label_990c0be1-bb3d-41f4-a01f-ac7e5848c08e_ActionId">
    <vt:lpwstr>639daa0d-0d90-4e9c-be8f-e88f1998c1cb</vt:lpwstr>
  </property>
  <property fmtid="{D5CDD505-2E9C-101B-9397-08002B2CF9AE}" pid="8" name="MSIP_Label_990c0be1-bb3d-41f4-a01f-ac7e5848c08e_ContentBits">
    <vt:lpwstr>3</vt:lpwstr>
  </property>
  <property fmtid="{D5CDD505-2E9C-101B-9397-08002B2CF9AE}" pid="9" name="ClassificationContentMarkingFooterLocations">
    <vt:lpwstr>Office Theme:10</vt:lpwstr>
  </property>
  <property fmtid="{D5CDD505-2E9C-101B-9397-08002B2CF9AE}" pid="10" name="ClassificationContentMarkingFooterText">
    <vt:lpwstr>SC-Restricted</vt:lpwstr>
  </property>
  <property fmtid="{D5CDD505-2E9C-101B-9397-08002B2CF9AE}" pid="11" name="ClassificationContentMarkingHeaderLocations">
    <vt:lpwstr>Office Theme:9</vt:lpwstr>
  </property>
  <property fmtid="{D5CDD505-2E9C-101B-9397-08002B2CF9AE}" pid="12" name="ClassificationContentMarkingHeaderText">
    <vt:lpwstr>SC-Restricted</vt:lpwstr>
  </property>
</Properties>
</file>